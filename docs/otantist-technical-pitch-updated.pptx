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67867"/>
            <a:ext cx="77724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050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OVERVIEW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2624042" y="1606897"/>
            <a:ext cx="389591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Aft>
                <a:spcPts val="1200"/>
              </a:spcAft>
              <a:buNone/>
            </a:pPr>
            <a:r>
              <a:rPr lang="en-US" sz="42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Otantist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85800" y="2292697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Emotionally Safe Social Platform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2635597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Autistic Individuals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91000" y="3283297"/>
            <a:ext cx="762000" cy="38100"/>
          </a:xfrm>
          <a:prstGeom prst="rect">
            <a:avLst/>
          </a:prstGeom>
          <a:solidFill>
            <a:srgbClr val="5EB5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3702397"/>
            <a:ext cx="77724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Architecture &amp; Development Roadmap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42900"/>
            <a:ext cx="81610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825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71500" y="699046"/>
            <a:ext cx="41873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62000" y="1749772"/>
            <a:ext cx="3462338" cy="765721"/>
          </a:xfrm>
          <a:prstGeom prst="roundRect">
            <a:avLst>
              <a:gd name="adj" fmla="val 9951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81050" y="1749772"/>
            <a:ext cx="0" cy="765721"/>
          </a:xfrm>
          <a:prstGeom prst="line">
            <a:avLst/>
          </a:prstGeom>
          <a:noFill/>
          <a:ln w="38100">
            <a:solidFill>
              <a:srgbClr val="E573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2500" y="1940272"/>
            <a:ext cx="318182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Sensory Overload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52500" y="2165003"/>
            <a:ext cx="318182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Animations, notifications, bright colors create anxiety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2000" y="2629793"/>
            <a:ext cx="3462338" cy="925711"/>
          </a:xfrm>
          <a:prstGeom prst="roundRect">
            <a:avLst>
              <a:gd name="adj" fmla="val 8232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81050" y="2629793"/>
            <a:ext cx="0" cy="925711"/>
          </a:xfrm>
          <a:prstGeom prst="line">
            <a:avLst/>
          </a:prstGeom>
          <a:noFill/>
          <a:ln w="38100">
            <a:solidFill>
              <a:srgbClr val="E573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2500" y="2820293"/>
            <a:ext cx="318182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Barriers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52500" y="3045023"/>
            <a:ext cx="318182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guidance on tone or timing—leading to misunderstandings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2000" y="3669804"/>
            <a:ext cx="3462338" cy="765721"/>
          </a:xfrm>
          <a:prstGeom prst="roundRect">
            <a:avLst>
              <a:gd name="adj" fmla="val 9951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781050" y="3669804"/>
            <a:ext cx="0" cy="765721"/>
          </a:xfrm>
          <a:prstGeom prst="line">
            <a:avLst/>
          </a:prstGeom>
          <a:noFill/>
          <a:ln w="38100">
            <a:solidFill>
              <a:srgbClr val="E573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2500" y="3860304"/>
            <a:ext cx="318182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Gaps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52500" y="4085034"/>
            <a:ext cx="318182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Vulnerable users exposed to exploitation without protection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67263" y="1368921"/>
            <a:ext cx="3531584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850" b="1" dirty="0">
                <a:solidFill>
                  <a:srgbClr val="E8B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in 36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4767263" y="2104132"/>
            <a:ext cx="35315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spcAft>
                <a:spcPts val="15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 diagnosed with ASD (CDC, 2023)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67263" y="2645122"/>
            <a:ext cx="3531584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850" b="1" dirty="0">
                <a:solidFill>
                  <a:srgbClr val="E8B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4767263" y="3380333"/>
            <a:ext cx="35315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spcAft>
                <a:spcPts val="15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social media increases anxiety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67263" y="3921323"/>
            <a:ext cx="3531584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850" b="1" dirty="0">
                <a:solidFill>
                  <a:srgbClr val="E8B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850" dirty="0"/>
          </a:p>
        </p:txBody>
      </p:sp>
      <p:sp>
        <p:nvSpPr>
          <p:cNvPr id="21" name="Text 19"/>
          <p:cNvSpPr/>
          <p:nvPr/>
        </p:nvSpPr>
        <p:spPr>
          <a:xfrm>
            <a:off x="4767263" y="4656534"/>
            <a:ext cx="35315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 designed for autistic needs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19100"/>
            <a:ext cx="8161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00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APPROACH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71500" y="807690"/>
            <a:ext cx="418738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Safe, Built Right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71500" y="1961108"/>
            <a:ext cx="1885950" cy="1895475"/>
          </a:xfrm>
          <a:prstGeom prst="roundRect">
            <a:avLst>
              <a:gd name="adj" fmla="val 4040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151608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5EB5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2685008"/>
            <a:ext cx="15350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Bilingual FR/EN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762000" y="2999333"/>
            <a:ext cx="1535049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bilingual from day one. Essential for Québec families and inclusive for all Canadian users.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2609850" y="2039689"/>
            <a:ext cx="1885950" cy="1738313"/>
          </a:xfrm>
          <a:prstGeom prst="roundRect">
            <a:avLst>
              <a:gd name="adj" fmla="val 4384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800350" y="2230189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5EB5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800350" y="2763589"/>
            <a:ext cx="15350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 Messaging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2800350" y="3077914"/>
            <a:ext cx="1535049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Safe, private conversations. No groups or communities until moderation is proven at scale.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648200" y="1961108"/>
            <a:ext cx="1885950" cy="1895475"/>
          </a:xfrm>
          <a:prstGeom prst="roundRect">
            <a:avLst>
              <a:gd name="adj" fmla="val 4040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38700" y="2151608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5EB5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38700" y="2685008"/>
            <a:ext cx="15350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Moderation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4838700" y="2999333"/>
            <a:ext cx="1535049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assists with flagging, but humans make all moderation decisions. Essential for neurodivergent users.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6686550" y="1961108"/>
            <a:ext cx="1885950" cy="1895475"/>
          </a:xfrm>
          <a:prstGeom prst="roundRect">
            <a:avLst>
              <a:gd name="adj" fmla="val 4040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877050" y="2151608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5EB5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77050" y="2685008"/>
            <a:ext cx="15350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Invite-Only Beta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6877050" y="2999333"/>
            <a:ext cx="1535049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rollout enables validation, safety testing, and community building before public launch.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297180" y="45910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Safe and Ethical Viable Product — safety and responsibility before scale.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42900"/>
            <a:ext cx="83553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825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71500" y="546646"/>
            <a:ext cx="41873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62000" y="1331863"/>
            <a:ext cx="2463850" cy="636240"/>
          </a:xfrm>
          <a:prstGeom prst="roundRect">
            <a:avLst>
              <a:gd name="adj" fmla="val 11977"/>
            </a:avLst>
          </a:prstGeom>
          <a:solidFill>
            <a:srgbClr val="5EB5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53948" y="1484263"/>
            <a:ext cx="22799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App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3948" y="1682353"/>
            <a:ext cx="22799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340150" y="1331863"/>
            <a:ext cx="2463850" cy="636240"/>
          </a:xfrm>
          <a:prstGeom prst="roundRect">
            <a:avLst>
              <a:gd name="adj" fmla="val 11977"/>
            </a:avLst>
          </a:prstGeom>
          <a:solidFill>
            <a:srgbClr val="5EB5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32097" y="1484263"/>
            <a:ext cx="22799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App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32097" y="1682353"/>
            <a:ext cx="22799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918299" y="1331863"/>
            <a:ext cx="2463850" cy="636240"/>
          </a:xfrm>
          <a:prstGeom prst="roundRect">
            <a:avLst>
              <a:gd name="adj" fmla="val 11977"/>
            </a:avLst>
          </a:prstGeom>
          <a:solidFill>
            <a:srgbClr val="5EB5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10247" y="1484263"/>
            <a:ext cx="22799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10247" y="1682353"/>
            <a:ext cx="22799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85800" y="2044303"/>
            <a:ext cx="77724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62000" y="2333774"/>
            <a:ext cx="7620000" cy="426690"/>
          </a:xfrm>
          <a:prstGeom prst="roundRect">
            <a:avLst>
              <a:gd name="adj" fmla="val 17858"/>
            </a:avLst>
          </a:prstGeom>
          <a:solidFill>
            <a:srgbClr val="E8B86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82955" y="2467124"/>
            <a:ext cx="757809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 — Authentication, Rate Limiting, Routing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" y="2836664"/>
            <a:ext cx="77724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2000" y="3126135"/>
            <a:ext cx="1462980" cy="599926"/>
          </a:xfrm>
          <a:prstGeom prst="roundRect">
            <a:avLst>
              <a:gd name="adj" fmla="val 12702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762000" y="3140422"/>
            <a:ext cx="1462980" cy="0"/>
          </a:xfrm>
          <a:prstGeom prst="line">
            <a:avLst/>
          </a:prstGeom>
          <a:noFill/>
          <a:ln w="28575">
            <a:solidFill>
              <a:srgbClr val="5EB5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7250" y="3288060"/>
            <a:ext cx="12979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857250" y="3472755"/>
            <a:ext cx="12979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Registration, login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2301180" y="3126135"/>
            <a:ext cx="1462980" cy="599926"/>
          </a:xfrm>
          <a:prstGeom prst="roundRect">
            <a:avLst>
              <a:gd name="adj" fmla="val 12702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2301180" y="3140422"/>
            <a:ext cx="1462980" cy="0"/>
          </a:xfrm>
          <a:prstGeom prst="line">
            <a:avLst/>
          </a:prstGeom>
          <a:noFill/>
          <a:ln w="28575">
            <a:solidFill>
              <a:srgbClr val="5EB5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96430" y="3288060"/>
            <a:ext cx="12979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Service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2396430" y="3472755"/>
            <a:ext cx="12979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Profiles, preferences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3840361" y="3126135"/>
            <a:ext cx="1462980" cy="599926"/>
          </a:xfrm>
          <a:prstGeom prst="roundRect">
            <a:avLst>
              <a:gd name="adj" fmla="val 12702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3840361" y="3140422"/>
            <a:ext cx="1462980" cy="0"/>
          </a:xfrm>
          <a:prstGeom prst="line">
            <a:avLst/>
          </a:prstGeom>
          <a:noFill/>
          <a:ln w="28575">
            <a:solidFill>
              <a:srgbClr val="5EB5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5611" y="3288060"/>
            <a:ext cx="12979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3935611" y="3472755"/>
            <a:ext cx="12979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Real-time, boundaries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5379541" y="3126135"/>
            <a:ext cx="1462980" cy="599926"/>
          </a:xfrm>
          <a:prstGeom prst="roundRect">
            <a:avLst>
              <a:gd name="adj" fmla="val 12702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5379541" y="3140422"/>
            <a:ext cx="1462980" cy="0"/>
          </a:xfrm>
          <a:prstGeom prst="line">
            <a:avLst/>
          </a:prstGeom>
          <a:noFill/>
          <a:ln w="28575">
            <a:solidFill>
              <a:srgbClr val="5EB5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74791" y="3288060"/>
            <a:ext cx="12979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5474791" y="3472755"/>
            <a:ext cx="12979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Energy, Calm Mode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6918722" y="3126135"/>
            <a:ext cx="1462980" cy="599926"/>
          </a:xfrm>
          <a:prstGeom prst="roundRect">
            <a:avLst>
              <a:gd name="adj" fmla="val 12702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6918722" y="3140422"/>
            <a:ext cx="1462980" cy="0"/>
          </a:xfrm>
          <a:prstGeom prst="line">
            <a:avLst/>
          </a:prstGeom>
          <a:noFill/>
          <a:ln w="28575">
            <a:solidFill>
              <a:srgbClr val="5EB5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13972" y="3288060"/>
            <a:ext cx="12979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7013972" y="3472755"/>
            <a:ext cx="12979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Filtering, Calm Mode</a:t>
            </a:r>
            <a:endParaRPr lang="en-US" sz="675" dirty="0"/>
          </a:p>
        </p:txBody>
      </p:sp>
      <p:sp>
        <p:nvSpPr>
          <p:cNvPr id="37" name="Text 35"/>
          <p:cNvSpPr/>
          <p:nvPr/>
        </p:nvSpPr>
        <p:spPr>
          <a:xfrm>
            <a:off x="685800" y="3802261"/>
            <a:ext cx="77724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62000" y="4091732"/>
            <a:ext cx="2463850" cy="571351"/>
          </a:xfrm>
          <a:prstGeom prst="roundRect">
            <a:avLst>
              <a:gd name="adj" fmla="val 13337"/>
            </a:avLst>
          </a:prstGeom>
          <a:solidFill>
            <a:srgbClr val="2430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834517" y="4225082"/>
            <a:ext cx="23188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834517" y="4409777"/>
            <a:ext cx="23188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DB</a:t>
            </a:r>
            <a:endParaRPr lang="en-US" sz="675" dirty="0"/>
          </a:p>
        </p:txBody>
      </p:sp>
      <p:sp>
        <p:nvSpPr>
          <p:cNvPr id="41" name="Text 39"/>
          <p:cNvSpPr/>
          <p:nvPr/>
        </p:nvSpPr>
        <p:spPr>
          <a:xfrm>
            <a:off x="3340150" y="4091732"/>
            <a:ext cx="2463850" cy="571351"/>
          </a:xfrm>
          <a:prstGeom prst="roundRect">
            <a:avLst>
              <a:gd name="adj" fmla="val 13337"/>
            </a:avLst>
          </a:prstGeom>
          <a:solidFill>
            <a:srgbClr val="2430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412666" y="4225082"/>
            <a:ext cx="23188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3412666" y="4409777"/>
            <a:ext cx="23188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</a:t>
            </a:r>
            <a:endParaRPr lang="en-US" sz="675" dirty="0"/>
          </a:p>
        </p:txBody>
      </p:sp>
      <p:sp>
        <p:nvSpPr>
          <p:cNvPr id="44" name="Text 42"/>
          <p:cNvSpPr/>
          <p:nvPr/>
        </p:nvSpPr>
        <p:spPr>
          <a:xfrm>
            <a:off x="5918299" y="4091732"/>
            <a:ext cx="2463850" cy="571351"/>
          </a:xfrm>
          <a:prstGeom prst="roundRect">
            <a:avLst>
              <a:gd name="adj" fmla="val 13337"/>
            </a:avLst>
          </a:prstGeom>
          <a:solidFill>
            <a:srgbClr val="2430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990816" y="4225082"/>
            <a:ext cx="23188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S3/R2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5990816" y="4409777"/>
            <a:ext cx="231881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</a:t>
            </a:r>
            <a:endParaRPr lang="en-US" sz="6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42900"/>
            <a:ext cx="81610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71500" y="679996"/>
            <a:ext cx="41873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Capabilities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71500" y="1881485"/>
            <a:ext cx="3905250" cy="1308348"/>
          </a:xfrm>
          <a:prstGeom prst="roundRect">
            <a:avLst>
              <a:gd name="adj" fmla="val 5824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23900" y="2071985"/>
            <a:ext cx="367245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to Talk to Me" Button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723900" y="2302371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see a personalized guide: tone, topics, things to avoid, timing.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723900" y="2525167"/>
            <a:ext cx="3600450" cy="512266"/>
          </a:xfrm>
          <a:prstGeom prst="roundRect">
            <a:avLst>
              <a:gd name="adj" fmla="val 7438"/>
            </a:avLst>
          </a:prstGeom>
          <a:solidFill>
            <a:srgbClr val="2430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00100" y="2601367"/>
            <a:ext cx="351701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0F4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Tone: gentle • Mode: short text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800100" y="2721322"/>
            <a:ext cx="351701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0F4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Topics: animals, games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800100" y="2841278"/>
            <a:ext cx="351701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0F4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Rhythm: slow replies OK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571500" y="3304133"/>
            <a:ext cx="3905250" cy="904577"/>
          </a:xfrm>
          <a:prstGeom prst="roundRect">
            <a:avLst>
              <a:gd name="adj" fmla="val 8424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23900" y="3494633"/>
            <a:ext cx="367245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Boundary Enforcement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723900" y="3725019"/>
            <a:ext cx="367245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 sent outside preferred hours are queued and delivered when available. System-enforced.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667250" y="1860500"/>
            <a:ext cx="3905250" cy="904577"/>
          </a:xfrm>
          <a:prstGeom prst="roundRect">
            <a:avLst>
              <a:gd name="adj" fmla="val 8424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19650" y="2051000"/>
            <a:ext cx="367245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 Mode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819650" y="2281386"/>
            <a:ext cx="367245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One-tap activation reduces sensory load: neutral colors, no animations, slowed feed, matching paused, new contacts blocked.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667250" y="2879378"/>
            <a:ext cx="3905250" cy="1350169"/>
          </a:xfrm>
          <a:prstGeom prst="roundRect">
            <a:avLst>
              <a:gd name="adj" fmla="val 5644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19650" y="3069878"/>
            <a:ext cx="367245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(Phase 2)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819650" y="3300264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after MVP validation: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819650" y="3523059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82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Communication style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819650" y="3707755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82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Emotional sensitivity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819650" y="3892451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Shared interests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19100"/>
            <a:ext cx="8161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00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SYSTEM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71500" y="807690"/>
            <a:ext cx="41873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Account Types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62000" y="1523256"/>
            <a:ext cx="3289846" cy="3171230"/>
          </a:xfrm>
          <a:prstGeom prst="roundRect">
            <a:avLst>
              <a:gd name="adj" fmla="val 2403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90600" y="1751856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5EB5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485900" y="1822400"/>
            <a:ext cx="121777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Accounts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90600" y="2285256"/>
            <a:ext cx="2832646" cy="847427"/>
          </a:xfrm>
          <a:prstGeom prst="roundRect">
            <a:avLst>
              <a:gd name="adj" fmla="val 6744"/>
            </a:avLst>
          </a:prstGeom>
          <a:solidFill>
            <a:srgbClr val="2430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23950" y="2456706"/>
            <a:ext cx="261726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Adult (18+)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1123950" y="2668042"/>
            <a:ext cx="2617265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platform access. Contacts restricted to 18+ only. No supervision.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990600" y="3246983"/>
            <a:ext cx="2832646" cy="847427"/>
          </a:xfrm>
          <a:prstGeom prst="roundRect">
            <a:avLst>
              <a:gd name="adj" fmla="val 6744"/>
            </a:avLst>
          </a:prstGeom>
          <a:solidFill>
            <a:srgbClr val="2430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23950" y="3418433"/>
            <a:ext cx="261726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 (15-17)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123950" y="3629769"/>
            <a:ext cx="2617265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autonomy confirmation. Contacts limited to 15-17 age group only.</a:t>
            </a:r>
            <a:endParaRPr lang="en-US" sz="825" dirty="0"/>
          </a:p>
        </p:txBody>
      </p:sp>
      <p:sp>
        <p:nvSpPr>
          <p:cNvPr id="13" name="Shape 11"/>
          <p:cNvSpPr/>
          <p:nvPr/>
        </p:nvSpPr>
        <p:spPr>
          <a:xfrm>
            <a:off x="990600" y="4099173"/>
            <a:ext cx="2832646" cy="0"/>
          </a:xfrm>
          <a:prstGeom prst="line">
            <a:avLst/>
          </a:prstGeom>
          <a:noFill/>
          <a:ln w="9525">
            <a:solidFill>
              <a:srgbClr val="3D4F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0600" y="4294436"/>
            <a:ext cx="28892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15: Solo not available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242346" y="1218456"/>
            <a:ext cx="4139654" cy="3781127"/>
          </a:xfrm>
          <a:prstGeom prst="roundRect">
            <a:avLst>
              <a:gd name="adj" fmla="val 2015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470946" y="1447056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E8B86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66246" y="1517600"/>
            <a:ext cx="125360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Dyade (Linked)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470946" y="2018556"/>
            <a:ext cx="375610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Parent/guardian account linked to member account with configurable supervision.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70946" y="2490936"/>
            <a:ext cx="3682454" cy="887611"/>
          </a:xfrm>
          <a:prstGeom prst="roundRect">
            <a:avLst>
              <a:gd name="adj" fmla="val 6439"/>
            </a:avLst>
          </a:prstGeom>
          <a:solidFill>
            <a:srgbClr val="2430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604296" y="2662386"/>
            <a:ext cx="348406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Supervision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4604296" y="2892772"/>
            <a:ext cx="348406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 sees indicators only: social energy, stress level, routine compliance. Never conversation content.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470946" y="3492847"/>
            <a:ext cx="3682454" cy="906661"/>
          </a:xfrm>
          <a:prstGeom prst="roundRect">
            <a:avLst>
              <a:gd name="adj" fmla="val 6303"/>
            </a:avLst>
          </a:prstGeom>
          <a:solidFill>
            <a:srgbClr val="243044"/>
          </a:solidFill>
          <a:ln w="9525">
            <a:solidFill>
              <a:srgbClr val="E8B86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613821" y="3673822"/>
            <a:ext cx="34646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E8B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Reinforced Supervision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4613821" y="3904208"/>
            <a:ext cx="34646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vulnerable members. Parent can read messages, flag concerns. Requires ethics agreement. All access logged.</a:t>
            </a:r>
            <a:endParaRPr lang="en-US" sz="825" dirty="0"/>
          </a:p>
        </p:txBody>
      </p:sp>
      <p:sp>
        <p:nvSpPr>
          <p:cNvPr id="25" name="Shape 23"/>
          <p:cNvSpPr/>
          <p:nvPr/>
        </p:nvSpPr>
        <p:spPr>
          <a:xfrm>
            <a:off x="4470946" y="4404271"/>
            <a:ext cx="3682454" cy="0"/>
          </a:xfrm>
          <a:prstGeom prst="line">
            <a:avLst/>
          </a:prstGeom>
          <a:noFill/>
          <a:ln w="9525">
            <a:solidFill>
              <a:srgbClr val="3D4F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70946" y="4599533"/>
            <a:ext cx="37561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can revoke access if parental abuse detected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19100"/>
            <a:ext cx="8161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00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71500" y="807690"/>
            <a:ext cx="41873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Preferences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62000" y="1465213"/>
            <a:ext cx="1790700" cy="478036"/>
          </a:xfrm>
          <a:prstGeom prst="roundRect">
            <a:avLst>
              <a:gd name="adj" fmla="val 11955"/>
            </a:avLst>
          </a:prstGeom>
          <a:solidFill>
            <a:srgbClr val="5EB5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4400" y="1617613"/>
            <a:ext cx="151561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Identity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762000" y="2038499"/>
            <a:ext cx="1790700" cy="451396"/>
          </a:xfrm>
          <a:prstGeom prst="roundRect">
            <a:avLst>
              <a:gd name="adj" fmla="val 12661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14400" y="2190899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name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762000" y="2585145"/>
            <a:ext cx="1790700" cy="597991"/>
          </a:xfrm>
          <a:prstGeom prst="roundRect">
            <a:avLst>
              <a:gd name="adj" fmla="val 9557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14400" y="2737545"/>
            <a:ext cx="151561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group (14-18, 19-25, 26-40, 40+)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762000" y="3278386"/>
            <a:ext cx="1790700" cy="451396"/>
          </a:xfrm>
          <a:prstGeom prst="roundRect">
            <a:avLst>
              <a:gd name="adj" fmla="val 12661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14400" y="3430786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visibility level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762000" y="3825032"/>
            <a:ext cx="1790700" cy="451396"/>
          </a:xfrm>
          <a:prstGeom prst="roundRect">
            <a:avLst>
              <a:gd name="adj" fmla="val 12661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14400" y="3977432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profile (private)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2705100" y="1191964"/>
            <a:ext cx="1790700" cy="478036"/>
          </a:xfrm>
          <a:prstGeom prst="roundRect">
            <a:avLst>
              <a:gd name="adj" fmla="val 11955"/>
            </a:avLst>
          </a:prstGeom>
          <a:solidFill>
            <a:srgbClr val="5EB5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857500" y="1344364"/>
            <a:ext cx="151561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2705100" y="1765250"/>
            <a:ext cx="1790700" cy="597991"/>
          </a:xfrm>
          <a:prstGeom prst="roundRect">
            <a:avLst>
              <a:gd name="adj" fmla="val 9557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857500" y="1917650"/>
            <a:ext cx="151561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modes (text, voice, emoji...)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2705100" y="2458492"/>
            <a:ext cx="1790700" cy="451396"/>
          </a:xfrm>
          <a:prstGeom prst="roundRect">
            <a:avLst>
              <a:gd name="adj" fmla="val 12661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857500" y="2610892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 preference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2705100" y="3005138"/>
            <a:ext cx="1790700" cy="451396"/>
          </a:xfrm>
          <a:prstGeom prst="roundRect">
            <a:avLst>
              <a:gd name="adj" fmla="val 12661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857500" y="3157538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rhythm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2705100" y="3551783"/>
            <a:ext cx="1790700" cy="451396"/>
          </a:xfrm>
          <a:prstGeom prst="roundRect">
            <a:avLst>
              <a:gd name="adj" fmla="val 12661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857500" y="3704183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boundaries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2705100" y="4098429"/>
            <a:ext cx="1790700" cy="451396"/>
          </a:xfrm>
          <a:prstGeom prst="roundRect">
            <a:avLst>
              <a:gd name="adj" fmla="val 12661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857500" y="4250829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Good/avoid topics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4648200" y="1265188"/>
            <a:ext cx="1790700" cy="478036"/>
          </a:xfrm>
          <a:prstGeom prst="roundRect">
            <a:avLst>
              <a:gd name="adj" fmla="val 11955"/>
            </a:avLst>
          </a:prstGeom>
          <a:solidFill>
            <a:srgbClr val="5EB5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00600" y="1417588"/>
            <a:ext cx="151561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Sensory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4648200" y="1838474"/>
            <a:ext cx="1790700" cy="451396"/>
          </a:xfrm>
          <a:prstGeom prst="roundRect">
            <a:avLst>
              <a:gd name="adj" fmla="val 12661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00600" y="1990874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Sensitivities list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648200" y="2385120"/>
            <a:ext cx="1790700" cy="451396"/>
          </a:xfrm>
          <a:prstGeom prst="roundRect">
            <a:avLst>
              <a:gd name="adj" fmla="val 12661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00600" y="2537520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UI mode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4648200" y="2931765"/>
            <a:ext cx="1790700" cy="451396"/>
          </a:xfrm>
          <a:prstGeom prst="roundRect">
            <a:avLst>
              <a:gd name="adj" fmla="val 12661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00600" y="3084165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Animation/color prefs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4648200" y="3478411"/>
            <a:ext cx="1790700" cy="451396"/>
          </a:xfrm>
          <a:prstGeom prst="roundRect">
            <a:avLst>
              <a:gd name="adj" fmla="val 12661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800600" y="3630811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limits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4648200" y="4025057"/>
            <a:ext cx="1790700" cy="451396"/>
          </a:xfrm>
          <a:prstGeom prst="roundRect">
            <a:avLst>
              <a:gd name="adj" fmla="val 12661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800600" y="4177457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limits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6591300" y="1265188"/>
            <a:ext cx="1790700" cy="478036"/>
          </a:xfrm>
          <a:prstGeom prst="roundRect">
            <a:avLst>
              <a:gd name="adj" fmla="val 11955"/>
            </a:avLst>
          </a:prstGeom>
          <a:solidFill>
            <a:srgbClr val="5EB5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743700" y="1417588"/>
            <a:ext cx="151561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Emotional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6591300" y="1838474"/>
            <a:ext cx="1790700" cy="451396"/>
          </a:xfrm>
          <a:prstGeom prst="roundRect">
            <a:avLst>
              <a:gd name="adj" fmla="val 12661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743700" y="1990874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reaction</a:t>
            </a:r>
            <a:endParaRPr lang="en-US" sz="825" dirty="0"/>
          </a:p>
        </p:txBody>
      </p:sp>
      <p:sp>
        <p:nvSpPr>
          <p:cNvPr id="42" name="Text 40"/>
          <p:cNvSpPr/>
          <p:nvPr/>
        </p:nvSpPr>
        <p:spPr>
          <a:xfrm>
            <a:off x="6591300" y="2385120"/>
            <a:ext cx="1790700" cy="451396"/>
          </a:xfrm>
          <a:prstGeom prst="roundRect">
            <a:avLst>
              <a:gd name="adj" fmla="val 12661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743700" y="2537520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Criticism sensitivity</a:t>
            </a:r>
            <a:endParaRPr lang="en-US" sz="825" dirty="0"/>
          </a:p>
        </p:txBody>
      </p:sp>
      <p:sp>
        <p:nvSpPr>
          <p:cNvPr id="44" name="Text 42"/>
          <p:cNvSpPr/>
          <p:nvPr/>
        </p:nvSpPr>
        <p:spPr>
          <a:xfrm>
            <a:off x="6591300" y="2931765"/>
            <a:ext cx="1790700" cy="451396"/>
          </a:xfrm>
          <a:prstGeom prst="roundRect">
            <a:avLst>
              <a:gd name="adj" fmla="val 12661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743700" y="3084165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Irony tolerance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6591300" y="3478411"/>
            <a:ext cx="1790700" cy="451396"/>
          </a:xfrm>
          <a:prstGeom prst="roundRect">
            <a:avLst>
              <a:gd name="adj" fmla="val 12661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743700" y="3630811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Reassurance need</a:t>
            </a:r>
            <a:endParaRPr lang="en-US" sz="825" dirty="0"/>
          </a:p>
        </p:txBody>
      </p:sp>
      <p:sp>
        <p:nvSpPr>
          <p:cNvPr id="48" name="Text 46"/>
          <p:cNvSpPr/>
          <p:nvPr/>
        </p:nvSpPr>
        <p:spPr>
          <a:xfrm>
            <a:off x="6591300" y="4025057"/>
            <a:ext cx="1790700" cy="451396"/>
          </a:xfrm>
          <a:prstGeom prst="roundRect">
            <a:avLst>
              <a:gd name="adj" fmla="val 12661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743700" y="4177457"/>
            <a:ext cx="15156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response prefs</a:t>
            </a:r>
            <a:endParaRPr lang="en-US" sz="825" dirty="0"/>
          </a:p>
        </p:txBody>
      </p:sp>
      <p:sp>
        <p:nvSpPr>
          <p:cNvPr id="50" name="Text 48"/>
          <p:cNvSpPr/>
          <p:nvPr/>
        </p:nvSpPr>
        <p:spPr>
          <a:xfrm>
            <a:off x="297180" y="45910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 preference dimensions per user — all informing matching, UI adaptation, and safety systems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19100"/>
            <a:ext cx="81610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825" dirty="0">
                <a:solidFill>
                  <a:srgbClr val="E8B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71500" y="794296"/>
            <a:ext cx="41873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Strategy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71500" y="2167086"/>
            <a:ext cx="392506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300"/>
              </a:spcBef>
              <a:spcAft>
                <a:spcPts val="1500"/>
              </a:spcAft>
              <a:buNone/>
            </a:pPr>
            <a:r>
              <a:rPr lang="en-US" sz="13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"Community first, product second"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2787997"/>
            <a:ext cx="3925062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97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risk-aware, funder-aligned approach that prioritizes safety validation over rapid scaling.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571500" y="3527078"/>
            <a:ext cx="3925062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invite-only beta allows funders and grant programs to see Otantist's values in practice—not just conceptually—while ensuring safety at every step.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24400" y="1698575"/>
            <a:ext cx="3848100" cy="872282"/>
          </a:xfrm>
          <a:prstGeom prst="roundRect">
            <a:avLst>
              <a:gd name="adj" fmla="val 8736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743450" y="1698575"/>
            <a:ext cx="0" cy="872282"/>
          </a:xfrm>
          <a:prstGeom prst="line">
            <a:avLst/>
          </a:prstGeom>
          <a:noFill/>
          <a:ln w="38100">
            <a:solidFill>
              <a:srgbClr val="5EB5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5850" y="1870025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825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895850" y="2054721"/>
            <a:ext cx="36141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Building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895850" y="2266057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Website, social media, surveys, feedback loops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724400" y="2685157"/>
            <a:ext cx="3848100" cy="872282"/>
          </a:xfrm>
          <a:prstGeom prst="roundRect">
            <a:avLst>
              <a:gd name="adj" fmla="val 8736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743450" y="2685157"/>
            <a:ext cx="0" cy="872282"/>
          </a:xfrm>
          <a:prstGeom prst="line">
            <a:avLst/>
          </a:prstGeom>
          <a:noFill/>
          <a:ln w="38100">
            <a:solidFill>
              <a:srgbClr val="E8B8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5850" y="2856607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825" dirty="0">
                <a:solidFill>
                  <a:srgbClr val="E8B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895850" y="3041303"/>
            <a:ext cx="36141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Invite-Only Beta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895850" y="3252639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access, safety validation, legal review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724400" y="3671739"/>
            <a:ext cx="3848100" cy="872282"/>
          </a:xfrm>
          <a:prstGeom prst="roundRect">
            <a:avLst>
              <a:gd name="adj" fmla="val 8736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743450" y="3671739"/>
            <a:ext cx="0" cy="872282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5850" y="3843189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895850" y="4027884"/>
            <a:ext cx="36141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Launch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4895850" y="4239220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validation, expanded features, monetization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42900"/>
            <a:ext cx="83553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825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71500" y="546646"/>
            <a:ext cx="41873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Stack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62000" y="1571625"/>
            <a:ext cx="4434780" cy="375196"/>
          </a:xfrm>
          <a:prstGeom prst="roundRect">
            <a:avLst>
              <a:gd name="adj" fmla="val 15232"/>
            </a:avLst>
          </a:prstGeom>
          <a:solidFill>
            <a:srgbClr val="5EB5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95350" y="1685925"/>
            <a:ext cx="87560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1906191" y="1685925"/>
            <a:ext cx="13135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346400" y="1685925"/>
            <a:ext cx="17513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Rationale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762000" y="2003971"/>
            <a:ext cx="4434780" cy="361950"/>
          </a:xfrm>
          <a:prstGeom prst="rect">
            <a:avLst/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95350" y="2118271"/>
            <a:ext cx="8756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906191" y="2118271"/>
            <a:ext cx="13135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 + Expo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346400" y="2118271"/>
            <a:ext cx="17513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codebase iOS/Android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62000" y="2423071"/>
            <a:ext cx="4434780" cy="361950"/>
          </a:xfrm>
          <a:prstGeom prst="rect">
            <a:avLst/>
          </a:prstGeom>
          <a:solidFill>
            <a:srgbClr val="2430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95350" y="2537371"/>
            <a:ext cx="8756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906191" y="2537371"/>
            <a:ext cx="13135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(React)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346400" y="2537371"/>
            <a:ext cx="17513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sharing, SSR for SEO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762000" y="2842171"/>
            <a:ext cx="4434780" cy="361950"/>
          </a:xfrm>
          <a:prstGeom prst="rect">
            <a:avLst/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95350" y="2956471"/>
            <a:ext cx="8756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906191" y="2956471"/>
            <a:ext cx="13135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NestJS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346400" y="2956471"/>
            <a:ext cx="17513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 throughout, real-time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762000" y="3261271"/>
            <a:ext cx="4434780" cy="361950"/>
          </a:xfrm>
          <a:prstGeom prst="rect">
            <a:avLst/>
          </a:prstGeom>
          <a:solidFill>
            <a:srgbClr val="2430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95350" y="3375571"/>
            <a:ext cx="8756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906191" y="3375571"/>
            <a:ext cx="13135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Redis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346400" y="3375571"/>
            <a:ext cx="17513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+ caching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62000" y="3680371"/>
            <a:ext cx="4434780" cy="361950"/>
          </a:xfrm>
          <a:prstGeom prst="rect">
            <a:avLst/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95350" y="3794671"/>
            <a:ext cx="8756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906191" y="3794671"/>
            <a:ext cx="13135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 / Ably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346400" y="3794671"/>
            <a:ext cx="17513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Messaging, notifications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62000" y="4099471"/>
            <a:ext cx="4434780" cy="361950"/>
          </a:xfrm>
          <a:prstGeom prst="rect">
            <a:avLst/>
          </a:prstGeom>
          <a:solidFill>
            <a:srgbClr val="2430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95350" y="4213771"/>
            <a:ext cx="8756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906191" y="4213771"/>
            <a:ext cx="13135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/ OpenAI API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346400" y="4213771"/>
            <a:ext cx="17513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features (Phase 2)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425380" y="1672679"/>
            <a:ext cx="2956620" cy="845790"/>
          </a:xfrm>
          <a:prstGeom prst="roundRect">
            <a:avLst>
              <a:gd name="adj" fmla="val 9009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558730" y="1844129"/>
            <a:ext cx="274371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React Native?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58730" y="2061270"/>
            <a:ext cx="274371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Leverages JavaScript expertise, up to 70% code sharing with web, Expo simplifies deployment, strong accessibility support.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425380" y="2632770"/>
            <a:ext cx="2956620" cy="845790"/>
          </a:xfrm>
          <a:prstGeom prst="roundRect">
            <a:avLst>
              <a:gd name="adj" fmla="val 9009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558730" y="2804220"/>
            <a:ext cx="274371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58730" y="3021360"/>
            <a:ext cx="274371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or Google Cloud for production. Vercel + Railway viable for faster MVP.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425380" y="3592860"/>
            <a:ext cx="2956620" cy="767507"/>
          </a:xfrm>
          <a:prstGeom prst="roundRect">
            <a:avLst>
              <a:gd name="adj" fmla="val 9928"/>
            </a:avLst>
          </a:prstGeom>
          <a:solidFill>
            <a:srgbClr val="2430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5439668" y="3592860"/>
            <a:ext cx="0" cy="767507"/>
          </a:xfrm>
          <a:prstGeom prst="line">
            <a:avLst/>
          </a:prstGeom>
          <a:noFill/>
          <a:ln w="28575">
            <a:solidFill>
              <a:srgbClr val="5EB5A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87305" y="3764310"/>
            <a:ext cx="27145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Monthly (1K users)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5587305" y="3949005"/>
            <a:ext cx="271457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$100–275 CAD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19100"/>
            <a:ext cx="81610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825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71500" y="794296"/>
            <a:ext cx="41873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Phased Development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71500" y="1940421"/>
            <a:ext cx="2565350" cy="1898898"/>
          </a:xfrm>
          <a:prstGeom prst="roundRect">
            <a:avLst>
              <a:gd name="adj" fmla="val 4013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71500" y="1959471"/>
            <a:ext cx="2565350" cy="0"/>
          </a:xfrm>
          <a:prstGeom prst="line">
            <a:avLst/>
          </a:prstGeom>
          <a:noFill/>
          <a:ln w="38100">
            <a:solidFill>
              <a:srgbClr val="5EB5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2000" y="2207121"/>
            <a:ext cx="22280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MVP: Invite Beta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2000" y="2469952"/>
            <a:ext cx="2228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762000" y="2768947"/>
            <a:ext cx="2228037" cy="670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complete. Building: user profiles, preferences. Next: messaging, moderation, parent dashboard.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762000" y="3477369"/>
            <a:ext cx="22280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E8B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Non-monetized • Legal Review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289250" y="1940421"/>
            <a:ext cx="2565350" cy="1898898"/>
          </a:xfrm>
          <a:prstGeom prst="roundRect">
            <a:avLst>
              <a:gd name="adj" fmla="val 4013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89250" y="1959471"/>
            <a:ext cx="2565350" cy="0"/>
          </a:xfrm>
          <a:prstGeom prst="line">
            <a:avLst/>
          </a:prstGeom>
          <a:noFill/>
          <a:ln w="38100">
            <a:solidFill>
              <a:srgbClr val="E8B8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9750" y="2207121"/>
            <a:ext cx="22280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E8B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Features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79750" y="2469952"/>
            <a:ext cx="2228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MVP validation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479750" y="2768947"/>
            <a:ext cx="2228037" cy="670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Group/community spaces, user discovery/matching, voice messages, advanced AI features, professional integrations, subscription monetization.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479750" y="3477369"/>
            <a:ext cx="22280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E8B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Access Model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007001" y="2024211"/>
            <a:ext cx="2565350" cy="1731318"/>
          </a:xfrm>
          <a:prstGeom prst="roundRect">
            <a:avLst>
              <a:gd name="adj" fmla="val 4401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007001" y="2043261"/>
            <a:ext cx="256535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7501" y="2290911"/>
            <a:ext cx="22280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Tier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97501" y="2553742"/>
            <a:ext cx="2228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expansion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6197501" y="2852738"/>
            <a:ext cx="2228037" cy="502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Continuity Protocol (succession planning), parent community features, advanced analytics, professional intervention booking.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6197501" y="3393579"/>
            <a:ext cx="22280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E8B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Premium+ Subscription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97180" y="4604445"/>
            <a:ext cx="85496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permanent free tier — paid access ensures moderation quality and sustainability</a:t>
            </a:r>
            <a:endParaRPr lang="en-US" sz="6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04800"/>
            <a:ext cx="81610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825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571500" y="660946"/>
            <a:ext cx="41873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Investment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71500" y="1691878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975" b="1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Team (4 months)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71500" y="1960364"/>
            <a:ext cx="3905250" cy="571351"/>
          </a:xfrm>
          <a:prstGeom prst="roundRect">
            <a:avLst>
              <a:gd name="adj" fmla="val 13337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6750" y="2093714"/>
            <a:ext cx="37890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Lead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666750" y="2278410"/>
            <a:ext cx="378904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Native, Node.js, PostgreSQL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571500" y="2607915"/>
            <a:ext cx="3905250" cy="571351"/>
          </a:xfrm>
          <a:prstGeom prst="roundRect">
            <a:avLst>
              <a:gd name="adj" fmla="val 13337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6750" y="2741265"/>
            <a:ext cx="37890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Developer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666750" y="2925961"/>
            <a:ext cx="378904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Native, accessibility focus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571500" y="3255466"/>
            <a:ext cx="3905250" cy="571351"/>
          </a:xfrm>
          <a:prstGeom prst="roundRect">
            <a:avLst>
              <a:gd name="adj" fmla="val 13337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66750" y="3388816"/>
            <a:ext cx="37890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Designer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666750" y="3573512"/>
            <a:ext cx="378904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Sensory-aware, bilingual design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571500" y="3903018"/>
            <a:ext cx="3905250" cy="571351"/>
          </a:xfrm>
          <a:prstGeom prst="roundRect">
            <a:avLst>
              <a:gd name="adj" fmla="val 13337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66750" y="4036368"/>
            <a:ext cx="37890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Part-Time Support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666750" y="4221063"/>
            <a:ext cx="378904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PM, legal, clinical advisor, moderators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4667250" y="1586210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975" b="1" dirty="0">
                <a:solidFill>
                  <a:srgbClr val="E8B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Breakdown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667250" y="1854696"/>
            <a:ext cx="3905250" cy="413296"/>
          </a:xfrm>
          <a:prstGeom prst="roundRect">
            <a:avLst>
              <a:gd name="adj" fmla="val 18437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62500" y="1988046"/>
            <a:ext cx="6298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8016925" y="1988046"/>
            <a:ext cx="4695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$80-120K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667250" y="2344192"/>
            <a:ext cx="3905250" cy="413296"/>
          </a:xfrm>
          <a:prstGeom prst="roundRect">
            <a:avLst>
              <a:gd name="adj" fmla="val 18437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62500" y="2477542"/>
            <a:ext cx="3327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8075265" y="2477542"/>
            <a:ext cx="4100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$15-25K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667250" y="2833688"/>
            <a:ext cx="3905250" cy="413296"/>
          </a:xfrm>
          <a:prstGeom prst="roundRect">
            <a:avLst>
              <a:gd name="adj" fmla="val 18437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62500" y="2967038"/>
            <a:ext cx="6416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Review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8075265" y="2967038"/>
            <a:ext cx="4100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$10-20K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667250" y="3323183"/>
            <a:ext cx="3905250" cy="413296"/>
          </a:xfrm>
          <a:prstGeom prst="roundRect">
            <a:avLst>
              <a:gd name="adj" fmla="val 18437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62500" y="3456533"/>
            <a:ext cx="12860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+ Moderation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8133606" y="3456533"/>
            <a:ext cx="3505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$6-12K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667250" y="3850779"/>
            <a:ext cx="3905250" cy="729407"/>
          </a:xfrm>
          <a:prstGeom prst="roundRect">
            <a:avLst>
              <a:gd name="adj" fmla="val 10447"/>
            </a:avLst>
          </a:prstGeom>
          <a:solidFill>
            <a:srgbClr val="2430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681538" y="3850779"/>
            <a:ext cx="0" cy="729407"/>
          </a:xfrm>
          <a:prstGeom prst="line">
            <a:avLst/>
          </a:prstGeom>
          <a:noFill/>
          <a:ln w="28575">
            <a:solidFill>
              <a:srgbClr val="E8B86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10125" y="4003179"/>
            <a:ext cx="3721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MVP Investment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4810125" y="4187875"/>
            <a:ext cx="372103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E8B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$111-177K CAD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7801" y="721221"/>
            <a:ext cx="74839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825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3205302" y="1134517"/>
            <a:ext cx="273339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Aft>
                <a:spcPts val="2100"/>
              </a:spcAft>
              <a:buNone/>
            </a:pPr>
            <a:r>
              <a:rPr lang="en-US" sz="27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581312" y="1934617"/>
            <a:ext cx="967755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in 36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81312" y="2399407"/>
            <a:ext cx="9677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 with ASD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071848" y="1934617"/>
            <a:ext cx="1086922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5E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071848" y="2399407"/>
            <a:ext cx="10869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 built for them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682417" y="1934617"/>
            <a:ext cx="879405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E8B8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682417" y="2399407"/>
            <a:ext cx="87940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to lead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1524000" y="3041303"/>
            <a:ext cx="6096000" cy="853380"/>
          </a:xfrm>
          <a:prstGeom prst="roundRect">
            <a:avLst>
              <a:gd name="adj" fmla="val 8929"/>
            </a:avLst>
          </a:prstGeom>
          <a:solidFill>
            <a:srgbClr val="2D3A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773936" y="3269903"/>
            <a:ext cx="5596128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Otantist is infrastructure for emotional safety—a platform where autistic individuals connect authentically and families can trust their children are protected.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2561045" y="4275683"/>
            <a:ext cx="40217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8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documentation available: Architecture, Data Models, API Design, Roadmap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Otantist - Technical Overview</dc:title>
  <dc:subject>Platform Architecture &amp; Development Roadmap</dc:subject>
  <dc:creator>Otantist Team</dc:creator>
  <cp:lastModifiedBy>Otantist Team</cp:lastModifiedBy>
  <cp:revision>1</cp:revision>
  <dcterms:created xsi:type="dcterms:W3CDTF">2026-01-30T14:47:47Z</dcterms:created>
  <dcterms:modified xsi:type="dcterms:W3CDTF">2026-01-30T14:47:47Z</dcterms:modified>
</cp:coreProperties>
</file>